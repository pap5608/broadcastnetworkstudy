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87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65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909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294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오늘의 목적은 명령어 암기가 아니라 설계 → 연결 → 설정 → 검증 순서를 익히는 것입니다. 그림의 방송실은 이해를 돕는 예시이며 실제 방송 스트림이나 장비 제어를 구현하는 수업은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계정 인증 지연에 대비해 수업 전 이메일 수신 및 설치 권한을 확인해 둡니다. 설치 자체는 수업 안에서 진행합니다. 강의용 화면 그림은 직접 그린 안내도이며 특정 버전의 실제 캡처가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로그인 후의 개인별 화면과 최신 설치 파일 버전은 이 교안 제작 시 직접 확인하지 않았습니다. 공식 설치 문서의 배포 경로를 기준으로 안내합니다. 학급 전체는 같은 버전을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인증 메일이 늦으면 스팸함과 이메일 오타를 확인합니다. 관리 PC에서 설치가 막히면 관리자에게 요청하거나 준비된 실습 PC를 이용합니다. 설치가 끝난 수강생은 다음 장에서 화면 위치를 미리 익힙니다.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수강생이 Physical 작업 공간이나 Simulation 모드에 들어가 있지 않은지 확인합니다. 포트가 보이지 않으면 장비 위에 마우스를 올려 장비 정보와 링크를 확인하도록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방송 현장에 연결해 설명하되 실습망은 일반적인 기초 데이터 네트워크입니다. IP 영상 전송의 QoS·멀티캐스트·PTP·이중화까지 다루는 것으로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앞의 세 숫자가 같다는 규칙은 이 교안의 /24에서만 적용됩니다. 모든 서브넷에 일반화하지 않도록 한 번 짚어 줍니다. DNS는 이번 숫자 IP 기반 통신 시험에 필요하지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라우터의 두 포트는 서로 다른 서브넷이어야 합니다. R1에 PC용 기본 게이트웨이를 넣으려 하지 않도록 안내합니다. 여기서는 정적 경로·기본 경로 없이 직접 연결된 두 네트워크를 라우팅합니다.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처음 한 대의 이름 변경을 시연한 뒤 나머지 세 대는 각자 진행하게 합니다. 모델명이 아닌 표시 이름을 바꾸는 과정입니다.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이 수업에서는 장비 모듈 추가나 전원 조작이 필요하지 않습니다. 무선 공유기나 홈 라우터를 선택하면 CLI와 포트가 달라지므로 1941 또는 2911을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자동 케이블은 연결 자체를 쉽게 하지만 포트가 교안과 달라질 수 있습니다. 이번에는 수동 포트를 지정합니다. 잘못 연결한 경우 삭제 도구로 케이블 선만 클릭하고 Esc로 종료한 뒤 다시 연결합니다.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스위치 포트의 초기 주황색은 포워딩 준비 시간일 수 있습니다. 무조건 케이블을 지웠다 연결하기보다 먼저 기다리게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PC의 실제 운영체제 네트워크 설정이 아니라 Packet Tracer 안의 PC 설정을 바꿉니다. 마침표 네 묶음과 10/20 구간을 천천히 읽어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PC-B와 PC-D의 마지막 숫자는 12입니다. 복사해 넣을 때 네 PC에 같은 IP를 넣는 실수가 흔합니다. 서로 화면의 주소를 읽어 주며 확인시키면 효과적입니다.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ping 명령은 PC의 Command Prompt에서 입력합니다. Windows의 실제 명령 프롬프트가 아닙니다. 스위치에 관리 IP를 설정하지 않아도 같은 방 통신이 됨을 확인시킵니다.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휴식 중 미완료 학습자를 지원합니다. 다음 구간에서 로컬 통신 장애가 섞이지 않도록 A→B, C→D를 우선 복구합니다.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Config의 Display Name과 IOS hostname은 별도입니다. 화면 표시 이름이 R1이어도 CLI에 Router가 보일 수 있으며 곧 hostname 명령으로 맞춥니다.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복사 버튼은 편의를 위한 기능입니다. 버전에 따라 CLI 붙여넣기는 Ctrl+V 또는 우클릭 Paste를 사용합니다. 블록 전체를 붙였으면 마지막 줄에 Enter가 필요한지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show 명령은 R1#에서 실행하도록 통일합니다. 다른 모델에서 포트 이름을 바꾸었다면 두 포트 모두 같은 규칙으로 바꿔야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누락된 no shutdown을 가장 먼저 찾습니다. CLI에서 명령을 확인할 때는 입력값과 프롬프트 위치를 함께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PC의 게이트웨이는 송신뿐 아니라 응답의 귀환에도 필요합니다. 한쪽 PC만 올바르게 설정해도 된다고 생각하지 않도록 양쪽을 확인합니다. 이 토폴로지는 직접 연결 경로만 필요하므로 ip route를 추가하지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ARP 브로드캐스트 때문에 그림에 다른 PC로도 봉투가 보일 수 있습니다. 실제 ICMP 요청의 경로와 구분하여 관찰합니다.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화면 위치는 버전마다 다를 수 있어 도구 이름·툴팁을 우선 확인합니다. 관찰 중에는 Realtime의 경과시간과 달리 진행 버튼을 눌러야 패킷이 움직입니다. 필터는 관찰할 이벤트를 가리는 기능입니다.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15분 관찰 구간의 마지막 3분은 수강생 설명에 사용합니다. 모든 계층의 헤더를 해설하기보다 “어느 경로로 갔는가”에 집중합니다.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192.168.10.254 주소를 쓰는 장비가 없는 이 실습 구성에서의 결과입니다. PC-A IP·케이블까지 함께 바꾸지 않도록 통제합니다.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정답은 성공/실패, 기본 게이트웨이, 192.168.10.254→192.168.10.1, 4/0입니다. 장애 원인과 근거를 짝에게 한 문장으로 설명하게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A→C 시험 하나만으로 모든 PC를 검증했다고 판단하지 않습니다. 마지막 D→B 시험으로 PC-B와 PC-D의 다른 네트워크 통신도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필수 제출은 최종 .pkt입니다. 시간 여유가 없으면 캡처는 과제 제출로 넘깁니다. 열어 둔 파일 이름과 저장 위치를 실제 탐색기로 확인하게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[강사 메모]
무작정 장비를 지우기보다 “어디까지 성공하는가”를 보며 범위를 좁힙니다. .pkt 복구가 필요하면 가장 최근에 정상 저장한 체크포인트를 열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en-US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1_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4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" name="Google Shape;18;p3"/>
          <p:cNvSpPr/>
          <p:nvPr/>
        </p:nvSpPr>
        <p:spPr>
          <a:xfrm>
            <a:off x="1797051" y="1501238"/>
            <a:ext cx="7940234" cy="207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A1A1A"/>
              </a:buClr>
              <a:buSzPts val="3800"/>
            </a:pPr>
            <a:r>
              <a:rPr lang="ko-KR" altLang="en-US" sz="4267" b="1" dirty="0" smtClean="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네트워크 구성 및 </a:t>
            </a:r>
            <a:r>
              <a:rPr lang="ko-KR" altLang="en-US" sz="4267" b="1" dirty="0" err="1" smtClean="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패킷분석</a:t>
            </a:r>
            <a:r>
              <a:rPr lang="ko-KR" altLang="en-US" sz="4267" b="1" dirty="0" smtClean="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 실습</a:t>
            </a:r>
            <a:endParaRPr sz="42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205480" y="4648690"/>
            <a:ext cx="4876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9E9E9E"/>
              </a:buClr>
              <a:buSzPts val="1000"/>
            </a:pPr>
            <a:r>
              <a:rPr lang="en-US" sz="2400" dirty="0" smtClean="0">
                <a:solidFill>
                  <a:srgbClr val="9E9E9E"/>
                </a:solidFill>
                <a:latin typeface="Malgun Gothic"/>
                <a:ea typeface="Malgun Gothic"/>
                <a:cs typeface="Calibri"/>
                <a:sym typeface="Malgun Gothic"/>
              </a:rPr>
              <a:t>MBC IT</a:t>
            </a:r>
            <a:r>
              <a:rPr lang="ko-KR" altLang="en-US" sz="2400" smtClean="0">
                <a:solidFill>
                  <a:srgbClr val="9E9E9E"/>
                </a:solidFill>
                <a:latin typeface="Malgun Gothic"/>
                <a:ea typeface="Malgun Gothic"/>
                <a:cs typeface="Calibri"/>
                <a:sym typeface="Malgun Gothic"/>
              </a:rPr>
              <a:t>인프라팀</a:t>
            </a:r>
            <a:r>
              <a:rPr lang="en-US" altLang="ko-KR" sz="2400" dirty="0">
                <a:solidFill>
                  <a:srgbClr val="9E9E9E"/>
                </a:solidFill>
                <a:latin typeface="Malgun Gothic"/>
                <a:ea typeface="Malgun Gothic"/>
                <a:cs typeface="Calibri"/>
                <a:sym typeface="Malgun Gothic"/>
              </a:rPr>
              <a:t> </a:t>
            </a:r>
            <a:r>
              <a:rPr lang="ko-KR" altLang="en-US" sz="2400" smtClean="0">
                <a:solidFill>
                  <a:srgbClr val="9E9E9E"/>
                </a:solidFill>
                <a:latin typeface="Malgun Gothic"/>
                <a:ea typeface="Malgun Gothic"/>
                <a:cs typeface="Calibri"/>
                <a:sym typeface="Malgun Gothic"/>
              </a:rPr>
              <a:t>박진산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168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00–05분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만드는 우리 방송실 네트워크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Cisco Packet Tracer · 설치부터 통신 성공까지 · 120분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08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→ 07</a:t>
            </a:r>
            <a:endParaRPr lang="ko-KR" alt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286000" y="14813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4대, 스위치 2대, 라우터 1대.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화면에서 시작해 편집실과 송출실을 연결합니다.</a:t>
            </a:r>
            <a:endParaRPr lang="ko-KR" alt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4360" y="2212848"/>
            <a:ext cx="4160520" cy="3401568"/>
          </a:xfrm>
          <a:prstGeom prst="roundRect">
            <a:avLst>
              <a:gd name="adj" fmla="val 4839"/>
            </a:avLst>
          </a:prstGeom>
          <a:solidFill>
            <a:srgbClr val="EEF7F5"/>
          </a:solidFill>
          <a:ln w="12700">
            <a:solidFill>
              <a:srgbClr val="D2E8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23408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편집실 · 192.168.10.0/24</a:t>
            </a:r>
            <a:endParaRPr lang="ko-KR" alt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434072" y="2212848"/>
            <a:ext cx="4160520" cy="3401568"/>
          </a:xfrm>
          <a:prstGeom prst="roundRect">
            <a:avLst>
              <a:gd name="adj" fmla="val 4839"/>
            </a:avLst>
          </a:prstGeom>
          <a:solidFill>
            <a:srgbClr val="EEF2FA"/>
          </a:solidFill>
          <a:ln w="12700">
            <a:solidFill>
              <a:srgbClr val="D4DF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62672" y="23408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송출실 · 192.168.20.0/24</a:t>
            </a:r>
            <a:endParaRPr lang="ko-KR" alt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3657600" y="3904488"/>
            <a:ext cx="4892040" cy="0"/>
          </a:xfrm>
          <a:prstGeom prst="line">
            <a:avLst/>
          </a:prstGeom>
          <a:noFill/>
          <a:ln w="31750">
            <a:solidFill>
              <a:srgbClr val="66829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965960" y="3282696"/>
            <a:ext cx="1463040" cy="502920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1965960" y="4023360"/>
            <a:ext cx="1463040" cy="630936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8778240" y="3282696"/>
            <a:ext cx="1463040" cy="502920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78240" y="4023360"/>
            <a:ext cx="1463040" cy="630936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8680" y="292608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296265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
</a:t>
            </a: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192.168.10.11</a:t>
            </a:r>
            <a:endParaRPr lang="ko-KR" alt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68680" y="429768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8680" y="433425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PC-B
</a:t>
            </a: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192.168.10.12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3108960" y="3511296"/>
            <a:ext cx="1097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108960" y="354787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SW-EDIT
</a:t>
            </a: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2960</a:t>
            </a:r>
            <a:endParaRPr lang="ko-KR" alt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367528" y="3447288"/>
            <a:ext cx="1444752" cy="914400"/>
          </a:xfrm>
          <a:prstGeom prst="roundRect">
            <a:avLst>
              <a:gd name="adj" fmla="val 16000"/>
            </a:avLst>
          </a:prstGeom>
          <a:solidFill>
            <a:srgbClr val="173D51"/>
          </a:solidFill>
          <a:ln w="19050">
            <a:solidFill>
              <a:srgbClr val="173D5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67528" y="3483864"/>
            <a:ext cx="1444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
</a:t>
            </a:r>
            <a:r>
              <a:rPr lang="ko-KR" altLang="en-US" sz="1150" dirty="0">
                <a:solidFill>
                  <a:srgbClr val="E0F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1941</a:t>
            </a:r>
            <a:endParaRPr lang="ko-KR" alt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8001000" y="3511296"/>
            <a:ext cx="1097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01000" y="354787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SW-PLAY
</a:t>
            </a: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2960</a:t>
            </a:r>
            <a:endParaRPr lang="ko-KR" alt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9811512" y="292608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11512" y="296265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PC-C
</a:t>
            </a: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192.168.20.11</a:t>
            </a:r>
            <a:endParaRPr lang="ko-KR" alt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9811512" y="429768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811512" y="433425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PC-D
</a:t>
            </a: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192.168.20.12</a:t>
            </a:r>
            <a:endParaRPr lang="ko-KR" alt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2423160" y="29809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Fa0/1</a:t>
            </a:r>
            <a:endParaRPr lang="ko-KR" alt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2423160" y="46451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Fa0/2</a:t>
            </a:r>
            <a:endParaRPr lang="ko-KR" alt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3108960" y="4389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Gi0/1 → R1</a:t>
            </a:r>
            <a:endParaRPr lang="ko-KR" alt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572000" y="35661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G0/0</a:t>
            </a:r>
            <a:endParaRPr lang="ko-KR" alt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754880" y="45171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</a:t>
            </a:r>
            <a:endParaRPr lang="ko-KR" alt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6903720" y="35661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G0/1</a:t>
            </a:r>
            <a:endParaRPr lang="ko-KR" alt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6217920" y="47914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</a:t>
            </a:r>
            <a:endParaRPr lang="ko-KR" alt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8001000" y="4389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Gi0/1 → R1</a:t>
            </a:r>
            <a:endParaRPr lang="ko-KR" alt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9116568" y="29809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Fa0/1</a:t>
            </a:r>
            <a:endParaRPr lang="ko-KR" alt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116568" y="46451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Fa0/2</a:t>
            </a:r>
            <a:endParaRPr lang="ko-KR" alt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594360" y="5779008"/>
            <a:ext cx="1938528" cy="329184"/>
          </a:xfrm>
          <a:prstGeom prst="roundRect">
            <a:avLst>
              <a:gd name="adj" fmla="val 50000"/>
            </a:avLst>
          </a:prstGeom>
          <a:solidFill>
            <a:srgbClr val="EEF3F4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4360" y="577900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대상: 네트워크 입문자</a:t>
            </a:r>
            <a:endParaRPr lang="ko-KR" alt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2697480" y="5779008"/>
            <a:ext cx="1673352" cy="329184"/>
          </a:xfrm>
          <a:prstGeom prst="roundRect">
            <a:avLst>
              <a:gd name="adj" fmla="val 50000"/>
            </a:avLst>
          </a:prstGeom>
          <a:solidFill>
            <a:srgbClr val="EEF3F4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697480" y="5779008"/>
            <a:ext cx="1673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실습: 1인 1PC</a:t>
            </a:r>
            <a:endParaRPr lang="ko-KR" alt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4535424" y="5779008"/>
            <a:ext cx="2203704" cy="329184"/>
          </a:xfrm>
          <a:prstGeom prst="roundRect">
            <a:avLst>
              <a:gd name="adj" fmla="val 50000"/>
            </a:avLst>
          </a:prstGeom>
          <a:solidFill>
            <a:srgbClr val="EEF3F4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535424" y="5779008"/>
            <a:ext cx="220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진행: Windows 중심</a:t>
            </a:r>
            <a:endParaRPr lang="ko-KR" alt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6903720" y="5779008"/>
            <a:ext cx="1408176" cy="329184"/>
          </a:xfrm>
          <a:prstGeom prst="roundRect">
            <a:avLst>
              <a:gd name="adj" fmla="val 50000"/>
            </a:avLst>
          </a:prstGeom>
          <a:solidFill>
            <a:srgbClr val="EEF3F4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903720" y="5779008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 5분 포함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00–05분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도착점과 준비물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네 가지를 직접 하면 실습 완료입니다.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727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수업이 끝나면</a:t>
            </a:r>
            <a:endParaRPr lang="ko-KR" alt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594360" y="216712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14984" y="2029968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장비와 IP 주소를 보고 네트워크를 설계합니다.</a:t>
            </a:r>
            <a:endParaRPr lang="ko-KR" alt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" y="278892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14984" y="2651760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놓고 올바른 포트에 케이블을 연결합니다.</a:t>
            </a:r>
            <a:endParaRPr lang="ko-KR" alt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4360" y="341071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3410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14984" y="3273552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PC와 라우터를 설정해 다른 네트워크로 ping을 보냅니다.</a:t>
            </a:r>
            <a:endParaRPr lang="ko-KR" alt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94360" y="403250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14984" y="3895344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게이트웨이를 찾아 복구하고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.pkt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파일을 저장합니다.</a:t>
            </a:r>
            <a:endParaRPr lang="ko-KR" alt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263640" y="15727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전 준비</a:t>
            </a:r>
            <a:endParaRPr lang="ko-KR" alt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6263640" y="202996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483096" y="2029968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가능한 데스크톱·노트북과 마우스</a:t>
            </a:r>
            <a:endParaRPr lang="ko-KR" alt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263640" y="252374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483096" y="252374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 연결, Cisco 계정용 이메일</a:t>
            </a:r>
            <a:endParaRPr lang="ko-KR" alt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263640" y="30175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483096" y="3017520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PC의 설치 권한 또는 실습실 관리자 지원</a:t>
            </a:r>
            <a:endParaRPr lang="ko-KR" alt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263640" y="351129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483096" y="3511296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폴더: 문서 →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PT_Lab</a:t>
            </a:r>
            <a:endParaRPr lang="ko-KR" alt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263640" y="400507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6483096" y="4005072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교안과 Packet Tracer를 나란히 띄울 화면</a:t>
            </a:r>
            <a:endParaRPr lang="ko-KR" alt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94360" y="5166360"/>
            <a:ext cx="11000232" cy="621792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94360" y="5166360"/>
            <a:ext cx="64008" cy="621792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8952" y="5202936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교안 사용법: 슬라이드를 순서대로 따라가며 실습을 진행하세요. 각 단계의 완료 기준과 체크포인트를 확인한 뒤 다음 장으로 이동합니다.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05–20분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공식 사이트에서 준비하기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다운로드는 Cisco Networking Academy에서 시작합니다.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75564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600200"/>
            <a:ext cx="10579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브라우저에서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Cisco Resource Hub · Lab Downloads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(netacad.com/resources/lab-downloads)를 엽니다.</a:t>
            </a:r>
            <a:endParaRPr lang="ko-KR" alt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241401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2258568"/>
            <a:ext cx="10579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안내가 나오면 Cisco 계정으로 로그인합니다. 계정이 없으면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Sign up / Create account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해당하는 가입 메뉴에서 계정을 만듭니다.</a:t>
            </a:r>
            <a:endParaRPr lang="ko-KR" alt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4360" y="307238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916936"/>
            <a:ext cx="10579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확인 요청이 있으면 받은 편지함에서 인증을 마친 뒤 다운로드 화면으로 돌아옵니다.</a:t>
            </a:r>
            <a:endParaRPr lang="ko-KR" alt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4360" y="373075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3575304"/>
            <a:ext cx="10579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항목에서 자신의 운영체제에 맞는 설치 파일을 내려받습니다. Windows에서는 페이지에 표시된 Windows용 설치 파일을 선택합니다.</a:t>
            </a:r>
            <a:endParaRPr lang="ko-KR" alt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4360" y="4434840"/>
            <a:ext cx="11000232" cy="777240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" y="4434840"/>
            <a:ext cx="64008" cy="777240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8952" y="4471416"/>
            <a:ext cx="107259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다운로드 항목이 보이지 않으면: 로그인 상태를 확인 → Resource Hub 주소를 다시 열기 →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Packet Tracer 안내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이동하기. 입문 과정 등록 안내가 실제 표시되면 해당 안내에 따라 진행하세요.</a:t>
            </a:r>
            <a:endParaRPr lang="ko-KR" alt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94360" y="544068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경로 확인: 2026-09-29. 배포 버전, 버튼 이름, 로그인 방식은 바뀔 수 있으므로 특정 버전 번호를 고정하지 않습니다. 스마트폰·태블릿용 실습이 아닙니다.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05–20분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설치하고 처음 실행하기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기준 · 기본 설치 경로를 그대로 사용합니다.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63677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636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54480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다운로드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폴더에서 받은 설치 파일을 더블클릭합니다. 권한 확인 창이 나오면 학교·기관의 설치 절차에 따라 진행합니다.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214884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2066544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사용권 계약을 읽고 동의하면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accept the agreement → Next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누릅니다.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266090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660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578608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폴더·시작 메뉴·바로가기 화면은 기본값을 확인하며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→ Install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진행합니다.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317296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3090672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설치가 끝나면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Finish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누르고 Packet Tracer를 실행합니다.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94360" y="368503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14984" y="3602736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로그인이 요청되면 화면에 표시된 로그인 경로를 선택해 같은 Cisco 계정으로 인증합니다. 브라우저에서 인증했다면 앱으로 돌아옵니다.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94360" y="419709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alt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14984" y="4114800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작업 공간과 하단의 장비 선택 영역이 보이면 준비 완료입니다.</a:t>
            </a:r>
            <a:endParaRPr lang="ko-KR" alt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94360" y="475488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4360" y="475488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8952" y="479145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기준: Packet Tracer에서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→ New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눌러 빈 작업 공간을 열 수 있다.</a:t>
            </a:r>
            <a:endParaRPr lang="ko-KR" alt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594360" y="544068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macOS·Ubuntu 사용자는 Cisco 공식 운영체제별 설치 안내(Cisco Packet Tracer Download and Installation Instructions)로 설치하고 다음 단계에 합류합니다. 지원 OS·요구 사양은 배포 페이지에서 확인하세요.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05–20분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화면에서 네 곳만 찾기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Logical 작업 공간과 Realtime 모드에서 시작합니다.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36192"/>
            <a:ext cx="11000232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5240">
            <a:solidFill>
              <a:srgbClr val="B9CBD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" y="1554480"/>
            <a:ext cx="10963656" cy="475488"/>
          </a:xfrm>
          <a:prstGeom prst="rect">
            <a:avLst/>
          </a:prstGeom>
          <a:solidFill>
            <a:srgbClr val="E9F1F5"/>
          </a:solidFill>
          <a:ln w="6350">
            <a:solidFill>
              <a:srgbClr val="B9CB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157276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File → New / Save As</a:t>
            </a:r>
            <a:endParaRPr lang="ko-KR" alt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537192" y="1572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2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메뉴</a:t>
            </a:r>
            <a:endParaRPr lang="ko-KR" alt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2130552"/>
            <a:ext cx="10085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Logical 작업 공간
</a:t>
            </a:r>
            <a:r>
              <a:rPr lang="ko-KR" altLang="en-US" sz="13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놓고 케이블로 연결하는 곳</a:t>
            </a:r>
            <a:endParaRPr lang="ko-KR" alt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2648" y="3529584"/>
            <a:ext cx="10963656" cy="822960"/>
          </a:xfrm>
          <a:prstGeom prst="rect">
            <a:avLst/>
          </a:prstGeom>
          <a:solidFill>
            <a:srgbClr val="E9F1F5"/>
          </a:solidFill>
          <a:ln w="6350">
            <a:solidFill>
              <a:srgbClr val="B9CB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56616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장비 선택
</a:t>
            </a:r>
            <a:r>
              <a:rPr lang="ko-KR" altLang="en-US" sz="12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Network Devices · End Devices · Connections</a:t>
            </a:r>
            <a:endParaRPr lang="ko-KR" alt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08392" y="356616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실행 모드
</a:t>
            </a:r>
            <a:r>
              <a:rPr lang="ko-KR" altLang="en-US" sz="12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Realtime / Simulation</a:t>
            </a:r>
            <a:endParaRPr lang="ko-KR" alt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94360" y="444398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위치를 익히기 위한 안내도입니다. 실제 화면의 색·아이콘·메뉴 배치는 버전에 따라 다를 수 있습니다.</a:t>
            </a:r>
            <a:endParaRPr lang="ko-KR" alt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94360" y="485546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4855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4800600"/>
            <a:ext cx="10579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상단에서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Logical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우측 하단에서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Realtime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선택합니다.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94360" y="531266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5312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14984" y="5257800"/>
            <a:ext cx="10579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위를 클릭하면 설정 창이 열리고, 창의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닫으면 작업 공간으로 돌아옵니다.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94360" y="576986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769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14984" y="5715000"/>
            <a:ext cx="10579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배치·연결 도구 사용 후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Esc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눌러 선택 상태로 돌아오는 습관을 들입니다.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20–30분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무엇을 연결할지 먼저 정하기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편집실 2대와 송출실 2대가 서로 통신해야 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481328"/>
            <a:ext cx="4160520" cy="2971800"/>
          </a:xfrm>
          <a:prstGeom prst="roundRect">
            <a:avLst>
              <a:gd name="adj" fmla="val 5538"/>
            </a:avLst>
          </a:prstGeom>
          <a:solidFill>
            <a:srgbClr val="EEF7F5"/>
          </a:solidFill>
          <a:ln w="12700">
            <a:solidFill>
              <a:srgbClr val="D2E8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1609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편집실 · 192.168.10.0/24</a:t>
            </a:r>
            <a:endParaRPr lang="ko-KR" alt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434072" y="1481328"/>
            <a:ext cx="4160520" cy="2971800"/>
          </a:xfrm>
          <a:prstGeom prst="roundRect">
            <a:avLst>
              <a:gd name="adj" fmla="val 5538"/>
            </a:avLst>
          </a:prstGeom>
          <a:solidFill>
            <a:srgbClr val="EEF2FA"/>
          </a:solidFill>
          <a:ln w="12700">
            <a:solidFill>
              <a:srgbClr val="D4DF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62672" y="1609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송출실 · 192.168.20.0/24</a:t>
            </a:r>
            <a:endParaRPr lang="ko-KR" alt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657600" y="3172968"/>
            <a:ext cx="4892040" cy="0"/>
          </a:xfrm>
          <a:prstGeom prst="line">
            <a:avLst/>
          </a:prstGeom>
          <a:noFill/>
          <a:ln w="31750">
            <a:solidFill>
              <a:srgbClr val="66829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65960" y="2551176"/>
            <a:ext cx="1463040" cy="502920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1965960" y="3291840"/>
            <a:ext cx="1463040" cy="630936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8778240" y="2551176"/>
            <a:ext cx="1463040" cy="502920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78240" y="3291840"/>
            <a:ext cx="1463040" cy="630936"/>
          </a:xfrm>
          <a:prstGeom prst="line">
            <a:avLst/>
          </a:prstGeom>
          <a:noFill/>
          <a:ln w="28575">
            <a:solidFill>
              <a:srgbClr val="66829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219456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223113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
</a:t>
            </a: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192.168.10.11</a:t>
            </a:r>
            <a:endParaRPr lang="ko-KR" alt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68680" y="356616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360273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PC-B
</a:t>
            </a: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192.168.10.12</a:t>
            </a:r>
            <a:endParaRPr lang="ko-KR" alt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3108960" y="2779776"/>
            <a:ext cx="1097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08960" y="281635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SW-EDIT
</a:t>
            </a: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2960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367528" y="2715768"/>
            <a:ext cx="1444752" cy="914400"/>
          </a:xfrm>
          <a:prstGeom prst="roundRect">
            <a:avLst>
              <a:gd name="adj" fmla="val 16000"/>
            </a:avLst>
          </a:prstGeom>
          <a:solidFill>
            <a:srgbClr val="173D51"/>
          </a:solidFill>
          <a:ln w="19050">
            <a:solidFill>
              <a:srgbClr val="173D5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67528" y="2752344"/>
            <a:ext cx="1444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
</a:t>
            </a:r>
            <a:r>
              <a:rPr lang="ko-KR" altLang="en-US" sz="1150" dirty="0">
                <a:solidFill>
                  <a:srgbClr val="E0F0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1941</a:t>
            </a:r>
            <a:endParaRPr lang="ko-KR" alt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001000" y="2779776"/>
            <a:ext cx="1097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01000" y="281635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SW-PLAY
</a:t>
            </a: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2960</a:t>
            </a:r>
            <a:endParaRPr lang="ko-KR" alt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9811512" y="219456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811512" y="223113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PC-C
</a:t>
            </a: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192.168.20.11</a:t>
            </a:r>
            <a:endParaRPr lang="ko-KR" alt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9811512" y="356616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40617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11512" y="360273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PC-D
</a:t>
            </a:r>
            <a:r>
              <a:rPr lang="ko-KR" altLang="en-US" sz="1150" dirty="0">
                <a:solidFill>
                  <a:srgbClr val="172E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192.168.20.12</a:t>
            </a:r>
            <a:endParaRPr lang="ko-KR" alt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2423160" y="224942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Fa0/1</a:t>
            </a:r>
            <a:endParaRPr lang="ko-KR" alt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2423160" y="39136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Fa0/2</a:t>
            </a:r>
            <a:endParaRPr lang="ko-KR" alt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3108960" y="3657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Gi0/1 → R1</a:t>
            </a:r>
            <a:endParaRPr lang="ko-KR" alt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572000" y="28346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G0/0</a:t>
            </a:r>
            <a:endParaRPr lang="ko-KR" alt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754880" y="37856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</a:t>
            </a:r>
            <a:endParaRPr lang="ko-KR" alt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903720" y="28346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G0/1</a:t>
            </a:r>
            <a:endParaRPr lang="ko-KR" alt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217920" y="40599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b="1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</a:t>
            </a:r>
            <a:endParaRPr lang="ko-KR" alt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8001000" y="3657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Gi0/1 → R1</a:t>
            </a:r>
            <a:endParaRPr lang="ko-KR" alt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9116568" y="224942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Fa0/1</a:t>
            </a:r>
            <a:endParaRPr lang="ko-KR" alt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9116568" y="39136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50" dirty="0">
                <a:solidFill>
                  <a:srgbClr val="2B4C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Fa0/2</a:t>
            </a:r>
            <a:endParaRPr lang="ko-KR" alt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594360" y="457200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방은 스위치</a:t>
            </a:r>
            <a:endParaRPr lang="ko-KR" altLang="en-US" sz="1450" dirty="0"/>
          </a:p>
        </p:txBody>
      </p:sp>
      <p:sp>
        <p:nvSpPr>
          <p:cNvPr id="47" name="Text 44"/>
          <p:cNvSpPr/>
          <p:nvPr/>
        </p:nvSpPr>
        <p:spPr>
          <a:xfrm>
            <a:off x="594360" y="49011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편집실 PC-A·PC-B는 SW-EDIT에 연결합니다. 송출실 PC-C·PC-D는 SW-PLAY에 연결합니다.</a:t>
            </a:r>
            <a:endParaRPr lang="ko-KR" altLang="en-US" sz="1250" dirty="0"/>
          </a:p>
        </p:txBody>
      </p:sp>
      <p:sp>
        <p:nvSpPr>
          <p:cNvPr id="48" name="Text 45"/>
          <p:cNvSpPr/>
          <p:nvPr/>
        </p:nvSpPr>
        <p:spPr>
          <a:xfrm>
            <a:off x="6263640" y="457200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방은 라우터</a:t>
            </a:r>
            <a:endParaRPr lang="ko-KR" altLang="en-US" sz="1450" dirty="0"/>
          </a:p>
        </p:txBody>
      </p:sp>
      <p:sp>
        <p:nvSpPr>
          <p:cNvPr id="49" name="Text 46"/>
          <p:cNvSpPr/>
          <p:nvPr/>
        </p:nvSpPr>
        <p:spPr>
          <a:xfrm>
            <a:off x="6263640" y="490118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방은 서로 다른 IP 네트워크를 사용합니다. R1의 두 포트가 각각 한 방에 연결되어 네트워크 사이를 이어 줍니다.</a:t>
            </a:r>
            <a:endParaRPr lang="ko-KR" altLang="en-US" sz="1250" dirty="0"/>
          </a:p>
        </p:txBody>
      </p:sp>
      <p:sp>
        <p:nvSpPr>
          <p:cNvPr id="50" name="Shape 47"/>
          <p:cNvSpPr/>
          <p:nvPr/>
        </p:nvSpPr>
        <p:spPr>
          <a:xfrm>
            <a:off x="594360" y="5559552"/>
            <a:ext cx="11000232" cy="566928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94360" y="5559552"/>
            <a:ext cx="64008" cy="566928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58952" y="5596128"/>
            <a:ext cx="10725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범위는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유선 LAN + 수동 IP + 라우터 기본 연결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 인터넷 연결, DHCP, VLAN, 실제 영상 전송은 추가하지 않습니다.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20–30분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주소는 집 주소처럼 읽기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실습은 모든 장비의 서브넷 마스크가 255.255.255.0입니다.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481328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800" b="1" dirty="0">
                <a:solidFill>
                  <a:srgbClr val="407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192.168.10.</a:t>
            </a:r>
            <a:r>
              <a:rPr lang="ko-KR" altLang="en-US" sz="3800" b="1" dirty="0">
                <a:solidFill>
                  <a:srgbClr val="B64E27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11</a:t>
            </a:r>
            <a:endParaRPr lang="ko-KR" alt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594360" y="2240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세 숫자 = 같은 동네</a:t>
            </a:r>
            <a:endParaRPr lang="ko-KR" alt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94360" y="2596896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실습의 /24 조건에서</a:t>
            </a:r>
            <a:endParaRPr lang="ko-KR" altLang="en-US" sz="1250" dirty="0"/>
          </a:p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192.168.10.11과 192.168.10.12는 같은 네트워크입니다.</a:t>
            </a:r>
            <a:endParaRPr lang="ko-KR" alt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263640" y="2240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숫자 = 장비 번호</a:t>
            </a:r>
            <a:endParaRPr lang="ko-KR" alt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63640" y="259689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네트워크 안에서는 장비마다 달라야 합니다. 같은 주소를 두 PC에 넣지 않습니다.</a:t>
            </a:r>
            <a:endParaRPr lang="ko-KR" alt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337560"/>
          <a:ext cx="11000232" cy="1609344"/>
        </p:xfrm>
        <a:graphic>
          <a:graphicData uri="http://schemas.openxmlformats.org/drawingml/2006/table">
            <a:tbl>
              <a:tblPr/>
              <a:tblGrid>
                <a:gridCol w="2560320"/>
                <a:gridCol w="4965192"/>
                <a:gridCol w="347472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PC-A에서 입력할 값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IP 주소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장비의 주소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192.168.10.11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서브넷 마스크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네트워크의 범위를 구분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 (= /24)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게이트웨이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네트워크로 나가는 라우터 주소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94360" y="5166360"/>
            <a:ext cx="11000232" cy="5943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" y="5166360"/>
            <a:ext cx="64008" cy="594360"/>
          </a:xfrm>
          <a:prstGeom prst="rect">
            <a:avLst/>
          </a:prstGeom>
          <a:solidFill>
            <a:srgbClr val="C4682D"/>
          </a:solidFill>
          <a:ln w="12700">
            <a:solidFill>
              <a:srgbClr val="C4682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58952" y="5202936"/>
            <a:ext cx="10725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/24 네트워크에서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.0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네트워크 주소,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.255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브로드캐스트 주소이므로 PC에 넣지 않습니다.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.1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이 실습에서 라우터용으로 정한 값입니다.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20–30분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오늘 사용할 주소표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설정할 때 이 표를 다시 열어 확인하세요.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/ 33</a:t>
            </a:r>
            <a:endParaRPr lang="ko-KR" alt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1000232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2286000"/>
                <a:gridCol w="2286000"/>
                <a:gridCol w="2404872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장비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포트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IPv4 주소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서브넷 마스크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게이트웨이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PC-A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PC-B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192.168.10.12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PC-C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PC-D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192.168.20.12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GigabitEthernet0/0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없음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GigabitEthernet0/1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없음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94360" y="4343400"/>
            <a:ext cx="11000232" cy="512064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4360" y="4343400"/>
            <a:ext cx="64008" cy="512064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" y="4379976"/>
            <a:ext cx="10725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 2대에는 이번 실습에서 IP를 설정하지 않습니다. 기본 상태의 같은 VLAN 안에서 PC의 프레임을 전달할 수 있습니다.</a:t>
            </a:r>
            <a:endParaRPr lang="ko-KR" alt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4360" y="5010912"/>
            <a:ext cx="11000232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7D9D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3504" y="5020056"/>
            <a:ext cx="10981944" cy="347472"/>
          </a:xfrm>
          <a:prstGeom prst="rect">
            <a:avLst/>
          </a:prstGeom>
          <a:solidFill>
            <a:srgbClr val="F2F7F8"/>
          </a:solidFill>
          <a:ln w="6350">
            <a:solidFill>
              <a:srgbClr val="C7D9D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0664" y="5029200"/>
            <a:ext cx="10707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PC-C의 기본 게이트웨이는 무엇일까요?</a:t>
            </a:r>
            <a:endParaRPr lang="ko-KR" alt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40664" y="5376672"/>
            <a:ext cx="10707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</a:t>
            </a: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</a:t>
            </a: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 PC-C가 속한 송출실 네트워크 쪽 R1 포트 주소입니다.</a:t>
            </a:r>
            <a:endParaRPr lang="ko-KR" alt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배치·배선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30–45분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PC 네 대를 놓고 이름 바꾸기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왼쪽 두 대는 편집실, 오른쪽 두 대는 송출실입니다.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69164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72768"/>
            <a:ext cx="10579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 Devices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누릅니다. 장비 목록에서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/ PC-PT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찾습니다.</a:t>
            </a:r>
            <a:endParaRPr lang="ko-KR" alt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2157984"/>
            <a:ext cx="10579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아이콘을 선택한 다음 작업 공간을 클릭해 한 대를 놓습니다. 같은 방법으로 총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놓습니다.</a:t>
            </a:r>
            <a:endParaRPr lang="ko-KR" alt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4360" y="286207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743200"/>
            <a:ext cx="10579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PC 클릭 →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 → Global / Settings → Display Name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바꿉니다.</a:t>
            </a:r>
            <a:endParaRPr lang="ko-KR" alt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4360" y="344728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3328416"/>
            <a:ext cx="10579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방법으로 나머지를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PC-B, PC-C, PC-D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바꾸고 창을 닫습니다.</a:t>
            </a:r>
            <a:endParaRPr lang="ko-KR" alt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4360" y="403250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14984" y="3913632"/>
            <a:ext cx="10579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도구에서 장비를 드래그해 A·B는 왼쪽, C·D는 오른쪽에 배치합니다.</a:t>
            </a:r>
            <a:endParaRPr lang="ko-KR" alt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94360" y="4663440"/>
            <a:ext cx="11000232" cy="566928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4360" y="4663440"/>
            <a:ext cx="64008" cy="566928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8952" y="4700016"/>
            <a:ext cx="10725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아래 기본 이름을 클릭해 바로 바꿀 수 있는 버전도 있습니다.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PC-PT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선택해야 뒤의 Desktop → IP Configuration 경로를 그대로 따라갈 수 있습니다.</a:t>
            </a:r>
            <a:endParaRPr lang="ko-KR" alt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94360" y="5376672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4360" y="5376672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8952" y="541324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기준: PC-A·PC-B·PC-C·PC-D 네 이름이 보인다.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배치·배선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30–45분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스위치 두 대와 라우터 한 대 놓기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교안과 같은 모델을 선택하면 포트 이름이 일치합니다.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33</a:t>
            </a:r>
            <a:endParaRPr lang="ko-KR" alt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000232" cy="1207008"/>
        </p:xfrm>
        <a:graphic>
          <a:graphicData uri="http://schemas.openxmlformats.org/drawingml/2006/table">
            <a:tbl>
              <a:tblPr/>
              <a:tblGrid>
                <a:gridCol w="1371600"/>
                <a:gridCol w="3474720"/>
                <a:gridCol w="2286000"/>
                <a:gridCol w="1097280"/>
                <a:gridCol w="2770632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종류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하단에서 선택하는 경로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대수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표시 이름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스위치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Network Devices → Switches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2960 / 2960-24TT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2대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SW-EDIT, SW-PLAY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라우터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Network Devices → Routers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1941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1대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R1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94360" y="305409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436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014984" y="2971800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 두 대를 놓고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 → Display Name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이름을 바꿉니다.</a:t>
            </a:r>
            <a:endParaRPr lang="ko-KR" alt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94360" y="356616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436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014984" y="3483864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1941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라우터를 중앙에 놓고 표시 이름을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바꿉니다.</a:t>
            </a:r>
            <a:endParaRPr lang="ko-KR" alt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94360" y="407822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9436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014984" y="3995928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PC-A·B 옆에 SW-EDIT, PC-C·D 옆에 SW-PLAY가 오도록 정리합니다.</a:t>
            </a:r>
            <a:endParaRPr lang="ko-KR" alt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94360" y="4617720"/>
            <a:ext cx="11000232" cy="621792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94360" y="4617720"/>
            <a:ext cx="64008" cy="621792"/>
          </a:xfrm>
          <a:prstGeom prst="rect">
            <a:avLst/>
          </a:prstGeom>
          <a:solidFill>
            <a:srgbClr val="C4682D"/>
          </a:solidFill>
          <a:ln w="12700">
            <a:solidFill>
              <a:srgbClr val="C4682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8952" y="4654296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1941이 없으면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2911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GigabitEthernet0/0·0/1을 사용해도 됩니다. 다른 모델의 G0/0/0처럼 포트 이름이 다르면 이 교안의 명령어를 그대로 쓰지 말고 실제 포트 이름으로 바꾸세요.</a:t>
            </a:r>
            <a:endParaRPr lang="ko-KR" alt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94360" y="5376672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94360" y="5376672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58952" y="541324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기준: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4 + 스위치 2 + 라우터 1 = 장비 7대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배치·배선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30–45분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 케이블은 여섯 개만 연결하기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연결 모두 Copper Straight-Through를 사용합니다.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5448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08760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Connections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(번개 모양) →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Copper Straight-Through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(실선)을 선택합니다. 자동 선택 번개와 구분하세요.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199339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1947672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장비 클릭 → 연결할 포트 클릭 → 상대 장비 클릭 → 상대 포트 클릭 순서로 연결합니다.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243230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386584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표의 ①부터 ⑥까지 반복합니다. 케이블 하나를 끝내면 다음 케이블 도구를 다시 선택합니다.</a:t>
            </a:r>
            <a:endParaRPr lang="ko-KR" alt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907792"/>
          <a:ext cx="1100023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937760"/>
                <a:gridCol w="4965192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출발 장비 · 포트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도착 장비 · 포트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PC-A · 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SW-EDIT · FastEthernet0/1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PC-B · 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SW-EDIT · FastEthernet0/2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PC-C · 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SW-PLAY · FastEthernet0/1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PC-D · FastEthernet0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SW-PLAY · FastEthernet0/2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SW-EDIT · GigabitEthernet0/1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R1 · GigabitEthernet0/0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SW-PLAY · GigabitEthernet0/1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R1 · GigabitEthernet0/1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594360" y="5504688"/>
            <a:ext cx="11000232" cy="530352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94360" y="5504688"/>
            <a:ext cx="64008" cy="530352"/>
          </a:xfrm>
          <a:prstGeom prst="rect">
            <a:avLst/>
          </a:prstGeom>
          <a:solidFill>
            <a:srgbClr val="C4682D"/>
          </a:solidFill>
          <a:ln w="12700">
            <a:solidFill>
              <a:srgbClr val="C4682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8952" y="5541264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케이블 선택 → PC-A → FastEthernet0 → SW-EDIT → FastEthernet0/1.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RS-232나 Console은 선택하지 않습니다.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배치·배선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30–45분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연결 상태 확인하고 첫 저장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 쪽이 아직 빨간색이어도 이 단계에서는 정상일 수 있습니다.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727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↔ 스위치</a:t>
            </a:r>
            <a:endParaRPr lang="ko-KR" alt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4360" y="196596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주황색으로 표시될 수 있습니다. Realtime에서 약 30초 기다린 뒤 초록색으로 바뀌는지 확인합니다.</a:t>
            </a:r>
            <a:endParaRPr lang="ko-KR" altLang="en-US" sz="1250" dirty="0"/>
          </a:p>
          <a:p>
            <a:pPr marL="0" indent="0">
              <a:buNone/>
            </a:pPr>
            <a:endParaRPr lang="ko-KR" altLang="en-US" sz="1250" dirty="0"/>
          </a:p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빨간색이면 케이블 종류·포트·장비 전원을 확인합니다.</a:t>
            </a:r>
            <a:endParaRPr lang="ko-KR" alt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263640" y="157276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 ↔ 라우터</a:t>
            </a:r>
            <a:endParaRPr lang="ko-KR" alt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263640" y="196596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 포트는 아직 활성화하지 않았으므로 빨간색일 수 있습니다. 뒤에서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 shutdown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켭니다.</a:t>
            </a:r>
            <a:endParaRPr lang="ko-KR" altLang="en-US" sz="1250" dirty="0"/>
          </a:p>
          <a:p>
            <a:pPr marL="0" indent="0">
              <a:buNone/>
            </a:pPr>
            <a:endParaRPr lang="ko-KR" altLang="en-US" sz="1250" dirty="0"/>
          </a:p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색만으로 판단하지 않고 나중에 </a:t>
            </a:r>
            <a:endParaRPr lang="ko-KR" altLang="en-US" sz="1250" dirty="0"/>
          </a:p>
          <a:p>
            <a:pPr marL="0" indent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up/up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 확인합니다.</a:t>
            </a:r>
            <a:endParaRPr lang="ko-KR" alt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" y="360273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14984" y="3520440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→ Save As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선택합니다.</a:t>
            </a:r>
            <a:endParaRPr lang="ko-KR" alt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4360" y="411480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14984" y="4032504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문서의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PT_Lab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폴더에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01_wiring.pkt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저장합니다.</a:t>
            </a:r>
            <a:endParaRPr lang="ko-KR" alt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94360" y="462686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626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14984" y="4544568"/>
            <a:ext cx="10579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형식이 Packet Tracer 네트워크 파일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.pkt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인지 확인합니다.</a:t>
            </a:r>
            <a:endParaRPr lang="ko-KR" alt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94360" y="5285232"/>
            <a:ext cx="11000232" cy="566928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5285232"/>
            <a:ext cx="64008" cy="566928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8952" y="5321808"/>
            <a:ext cx="10725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①: 장비 7대, 케이블 6개, PC 쪽 링크 정상,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01_wiring.pkt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저장.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설정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45–60분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 PC-A의 IP 주소 넣기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화면의 Desktop 탭에서 설정합니다.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600200"/>
            <a:ext cx="4837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클릭 →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Desktop → IP Configuration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249631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496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2313432"/>
            <a:ext cx="4837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IPv4 설정에서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Static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선택합니다.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320954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3026664"/>
            <a:ext cx="4837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안내도의 주소·마스크·게이트웨이를 정확히 입력합니다. 자동으로 채워진 마스크도 확인합니다.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392277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3739896"/>
            <a:ext cx="4837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DNS는 기본값을 유지합니다. 입력을 마친 뒤 창을 닫습니다. 별도의 Save 버튼은 없습니다.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172200" y="1572768"/>
            <a:ext cx="5422392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5240">
            <a:solidFill>
              <a:srgbClr val="9CAFB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90488" y="1591056"/>
            <a:ext cx="5385816" cy="438912"/>
          </a:xfrm>
          <a:prstGeom prst="rect">
            <a:avLst/>
          </a:prstGeom>
          <a:solidFill>
            <a:srgbClr val="294E60"/>
          </a:solidFill>
          <a:ln w="12700">
            <a:solidFill>
              <a:srgbClr val="294E6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55080" y="1591056"/>
            <a:ext cx="5056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· 설정 위치 안내도</a:t>
            </a:r>
            <a:endParaRPr lang="ko-KR" alt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90488" y="2029968"/>
            <a:ext cx="5385816" cy="384048"/>
          </a:xfrm>
          <a:prstGeom prst="rect">
            <a:avLst/>
          </a:prstGeom>
          <a:solidFill>
            <a:srgbClr val="F0F4F6"/>
          </a:solidFill>
          <a:ln w="6350">
            <a:solidFill>
              <a:srgbClr val="CCD8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55080" y="2029968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Physical    Config    </a:t>
            </a:r>
            <a:r>
              <a:rPr lang="ko-KR" altLang="en-US" sz="11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Desktop ]</a:t>
            </a:r>
            <a:endParaRPr lang="ko-KR" alt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0" y="2505456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 Configuration → Static</a:t>
            </a:r>
            <a:endParaRPr lang="ko-KR" alt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0" y="2926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IPv4 Address</a:t>
            </a:r>
            <a:endParaRPr lang="ko-KR" alt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412480" y="2953512"/>
            <a:ext cx="2926080" cy="329184"/>
          </a:xfrm>
          <a:prstGeom prst="rect">
            <a:avLst/>
          </a:prstGeom>
          <a:solidFill>
            <a:srgbClr val="F4F7F8"/>
          </a:solidFill>
          <a:ln w="9525">
            <a:solidFill>
              <a:srgbClr val="BBCBD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03920" y="29535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192.168.10.11</a:t>
            </a:r>
            <a:endParaRPr lang="ko-KR" alt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400800" y="34381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Subnet Mask</a:t>
            </a:r>
            <a:endParaRPr lang="ko-KR" alt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412480" y="3465576"/>
            <a:ext cx="2926080" cy="329184"/>
          </a:xfrm>
          <a:prstGeom prst="rect">
            <a:avLst/>
          </a:prstGeom>
          <a:solidFill>
            <a:srgbClr val="F4F7F8"/>
          </a:solidFill>
          <a:ln w="9525">
            <a:solidFill>
              <a:srgbClr val="BBCBD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03920" y="34655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255.255.255.0</a:t>
            </a:r>
            <a:endParaRPr lang="ko-KR" alt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6400800" y="39502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Default Gateway</a:t>
            </a:r>
            <a:endParaRPr lang="ko-KR" alt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412480" y="3977640"/>
            <a:ext cx="2926080" cy="329184"/>
          </a:xfrm>
          <a:prstGeom prst="rect">
            <a:avLst/>
          </a:prstGeom>
          <a:solidFill>
            <a:srgbClr val="F4F7F8"/>
          </a:solidFill>
          <a:ln w="9525">
            <a:solidFill>
              <a:srgbClr val="BBCBD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03920" y="39776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</a:t>
            </a:r>
            <a:endParaRPr lang="ko-KR" alt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6400800" y="4462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DNS Server</a:t>
            </a:r>
            <a:endParaRPr lang="ko-KR" alt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8412480" y="4489704"/>
            <a:ext cx="2926080" cy="329184"/>
          </a:xfrm>
          <a:prstGeom prst="rect">
            <a:avLst/>
          </a:prstGeom>
          <a:solidFill>
            <a:srgbClr val="F4F7F8"/>
          </a:solidFill>
          <a:ln w="9525">
            <a:solidFill>
              <a:srgbClr val="BBCBD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503920" y="44897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0.0.0.0 (기본값 유지)</a:t>
            </a:r>
            <a:endParaRPr lang="ko-KR" alt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594360" y="5376672"/>
            <a:ext cx="11000232" cy="530352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94360" y="5376672"/>
            <a:ext cx="64008" cy="530352"/>
          </a:xfrm>
          <a:prstGeom prst="rect">
            <a:avLst/>
          </a:prstGeom>
          <a:solidFill>
            <a:srgbClr val="C4682D"/>
          </a:solidFill>
          <a:ln w="12700">
            <a:solidFill>
              <a:srgbClr val="C4682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58952" y="541324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게이트웨이에 자기 PC 주소를 넣지 마세요.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PC-A는 .11, 게이트웨이는 .1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설정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45–60분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 나머지 세 PC도 설정하기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PC의 Desktop → IP Configuration → Static을 엽니다.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33</a:t>
            </a:r>
            <a:endParaRPr lang="ko-KR" alt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1000232" cy="1389888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2926080"/>
                <a:gridCol w="2953512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장비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IPv4 Address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Subnet Mask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Default Gateway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PC-B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192.168.10.12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192.168.10.1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PC-C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PC-D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192.168.20.12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255.255.255.0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192.168.20.1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94360" y="311810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4360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2" name="Text 12"/>
          <p:cNvSpPr/>
          <p:nvPr/>
        </p:nvSpPr>
        <p:spPr>
          <a:xfrm>
            <a:off x="1014984" y="3090672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PC-B에는 편집실 주소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192.168.10.12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입력합니다.</a:t>
            </a:r>
            <a:endParaRPr lang="ko-KR" alt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4360" y="352044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436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014984" y="3493008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PC-C에는 송출실 주소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192.168.20.11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PC-D에는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192.168.20.12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입력합니다.</a:t>
            </a:r>
            <a:endParaRPr lang="ko-KR" alt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94360" y="392277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9436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014984" y="3895344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송출실 두 PC의 게이트웨이는 둘 다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192.168.20.1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ko-KR" alt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94360" y="432511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4360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014984" y="4297680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클릭 →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Desktop → Command Prompt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열고 아래 명령어를 입력합니다.</a:t>
            </a:r>
            <a:endParaRPr lang="ko-KR" alt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94360" y="4754880"/>
            <a:ext cx="11000232" cy="512064"/>
          </a:xfrm>
          <a:prstGeom prst="roundRect">
            <a:avLst>
              <a:gd name="adj" fmla="val 14286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543032" y="4846320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543032" y="4846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795528" y="4882896"/>
            <a:ext cx="9720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ipconfig</a:t>
            </a:r>
            <a:endParaRPr lang="ko-KR" alt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94360" y="539496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94360" y="539496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58952" y="543153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출력에서 IPv4 주소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192.168.10.11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마스크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255.255.255.0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게이트웨이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확인합니다. 다른 PC도 같은 방법으로 검산합니다.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설정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45–60분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 같은 방부터 ping 보내기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ping은 상대가 응답하는지 확인하는 가장 간단한 시험입니다.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3619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→ PC-B</a:t>
            </a:r>
            <a:endParaRPr lang="ko-KR" alt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4360" y="1847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→ Desktop → Command Prompt</a:t>
            </a:r>
            <a:endParaRPr lang="ko-KR" alt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" y="2176272"/>
            <a:ext cx="5257800" cy="566928"/>
          </a:xfrm>
          <a:prstGeom prst="roundRect">
            <a:avLst>
              <a:gd name="adj" fmla="val 12903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00600" y="2267712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2267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95528" y="23042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ping 192.168.10.12</a:t>
            </a:r>
            <a:endParaRPr lang="ko-KR" alt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63640" y="15361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PC-C → PC-D</a:t>
            </a:r>
            <a:endParaRPr lang="ko-KR" alt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263640" y="18470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PC-C → Desktop → Command Prompt</a:t>
            </a:r>
            <a:endParaRPr lang="ko-KR" alt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2176272"/>
            <a:ext cx="5330952" cy="566928"/>
          </a:xfrm>
          <a:prstGeom prst="roundRect">
            <a:avLst>
              <a:gd name="adj" fmla="val 12903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543032" y="2267712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43032" y="2267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64808" y="2304288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ping 192.168.20.12</a:t>
            </a:r>
            <a:endParaRPr lang="ko-KR" alt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94360" y="2916936"/>
            <a:ext cx="11000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출력 예시 · 시간과 TTL 값은 환경에 따라 다릅니다</a:t>
            </a:r>
            <a:endParaRPr lang="ko-KR" alt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94360" y="3154680"/>
            <a:ext cx="11000232" cy="841248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3154680"/>
            <a:ext cx="64008" cy="841248"/>
          </a:xfrm>
          <a:prstGeom prst="rect">
            <a:avLst/>
          </a:prstGeom>
          <a:solidFill>
            <a:srgbClr val="658496"/>
          </a:solidFill>
          <a:ln w="12700">
            <a:solidFill>
              <a:srgbClr val="65849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" y="3227832"/>
            <a:ext cx="10725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193E51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Reply from 192.168.10.12: bytes=32 ...</a:t>
            </a:r>
            <a:endParaRPr lang="ko-KR" alt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193E51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Packets: Sent = 4, Received = 4, Lost = 0 (0% loss)</a:t>
            </a:r>
            <a:endParaRPr lang="ko-KR" alt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94360" y="4160520"/>
            <a:ext cx="11000232" cy="658368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94360" y="4160520"/>
            <a:ext cx="64008" cy="658368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952" y="4197096"/>
            <a:ext cx="10725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한 번은 주소 확인(ARP) 과정 때문에 응답이 늦거나 손실될 수 있습니다.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ping을 한 번 더 실행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4개 응답·0% 손실인지 확인하세요. 반복해도 실패하면 문제입니다.</a:t>
            </a:r>
            <a:endParaRPr lang="ko-KR" alt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94360" y="498348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4360" y="498348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8952" y="502005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②: A→B와 C→D가 모두 성공한다. 다른 방 통신은 아직 검사하지 않습니다.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60–65분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잠깐 쉬어 갑니다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 전에 지금 상태를 한 번 저장하세요.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72768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72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r>
              <a:rPr lang="ko-KR" altLang="en-US" sz="26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</a:t>
            </a:r>
            <a:endParaRPr lang="ko-KR" altLang="en-US" sz="7200" dirty="0"/>
          </a:p>
        </p:txBody>
      </p:sp>
      <p:sp>
        <p:nvSpPr>
          <p:cNvPr id="14" name="Shape 11"/>
          <p:cNvSpPr/>
          <p:nvPr/>
        </p:nvSpPr>
        <p:spPr>
          <a:xfrm>
            <a:off x="594360" y="317296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14984" y="3063240"/>
            <a:ext cx="10579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→ Save As → 02_local_ping.pkt</a:t>
            </a:r>
            <a:r>
              <a:rPr lang="ko-KR" altLang="en-US" sz="13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저장합니다.</a:t>
            </a:r>
            <a:endParaRPr lang="ko-KR" alt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94360" y="373989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14984" y="3630168"/>
            <a:ext cx="10579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 통신이 안 되면 IP·마스크·케이블을 확인하고 강사에게 도움을 요청합니다.</a:t>
            </a:r>
            <a:endParaRPr lang="ko-KR" alt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94360" y="430682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14984" y="4197096"/>
            <a:ext cx="10579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돌아오면 라우터 포트 두 개를 설정해 편집실과 송출실을 연결합니다.</a:t>
            </a:r>
            <a:endParaRPr lang="ko-KR" alt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94360" y="5074920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지금까지: 장비 배치 → 배선 → PC 주소 → 같은 방 통신 성공</a:t>
            </a:r>
            <a:endParaRPr lang="ko-KR" alt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65–85분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라우터의 명령 입력 창 열기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CLI는 장비에 글자로 명령을 내리는 화면입니다.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60020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36192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클릭 →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탭을 선택합니다. 부팅 메시지가 끝날 때까지 기다립니다.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207568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2011680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설정 질문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Would you like to enter the initial configuration dialog? [yes/no]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나오면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입력하고 Enter를 누릅니다.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255117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487168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Press RETURN to get started!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보이면 Enter를 누릅니다.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302666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2962656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Router&gt;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또는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R1&gt;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처럼 끝이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 입력 줄이 보이면 준비 완료입니다.</a:t>
            </a:r>
            <a:endParaRPr lang="ko-KR" alt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520440"/>
          <a:ext cx="11000232" cy="1737360"/>
        </p:xfrm>
        <a:graphic>
          <a:graphicData uri="http://schemas.openxmlformats.org/drawingml/2006/table">
            <a:tbl>
              <a:tblPr/>
              <a:tblGrid>
                <a:gridCol w="2926080"/>
                <a:gridCol w="3291840"/>
                <a:gridCol w="4782312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끝 표시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위치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위치로 들어가는 명령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Router&gt;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모드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진입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Router#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 모드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enable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R1(config)#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설정 모드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configure terminal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R1(config-if)#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특정 포트 설정 모드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interface gigabitEthernet0/0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594360" y="5440680"/>
            <a:ext cx="11000232" cy="530352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94360" y="5440680"/>
            <a:ext cx="64008" cy="530352"/>
          </a:xfrm>
          <a:prstGeom prst="rect">
            <a:avLst/>
          </a:prstGeom>
          <a:solidFill>
            <a:srgbClr val="C4682D"/>
          </a:solidFill>
          <a:ln w="12700">
            <a:solidFill>
              <a:srgbClr val="C4682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58952" y="547725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아래부터는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명령어만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입력합니다. Router&gt;, R1#, R1(config)# 같은 앞부분은 직접 타이핑하지 않습니다.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65–85분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 편집실 쪽 포트를 설정하기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입력 → Enter → 다음 줄. G0/0을 편집실의 출입구로 만듭니다.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72768"/>
            <a:ext cx="5257800" cy="3154680"/>
          </a:xfrm>
          <a:prstGeom prst="roundRect">
            <a:avLst>
              <a:gd name="adj" fmla="val 2319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0" y="1664208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16642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95528" y="1700784"/>
            <a:ext cx="397764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enable</a:t>
            </a:r>
            <a:endParaRPr lang="ko-KR" alt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configure terminal</a:t>
            </a:r>
            <a:endParaRPr lang="ko-KR" alt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hostname R1</a:t>
            </a:r>
            <a:endParaRPr lang="ko-KR" alt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interface gigabitEthernet0/0</a:t>
            </a:r>
            <a:endParaRPr lang="ko-KR" alt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ip address 192.168.10.1 255.255.255.0</a:t>
            </a:r>
            <a:endParaRPr lang="ko-KR" alt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no shutdown</a:t>
            </a:r>
            <a:endParaRPr lang="ko-KR" alt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exit</a:t>
            </a:r>
            <a:endParaRPr lang="ko-KR" alt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172200" y="1536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명령어가 하는 일</a:t>
            </a:r>
            <a:endParaRPr lang="ko-KR" altLang="en-US" sz="14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901952"/>
          <a:ext cx="5422392" cy="2633472"/>
        </p:xfrm>
        <a:graphic>
          <a:graphicData uri="http://schemas.openxmlformats.org/drawingml/2006/table">
            <a:tbl>
              <a:tblPr/>
              <a:tblGrid>
                <a:gridCol w="2286000"/>
                <a:gridCol w="313639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명령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enable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관리자 모드로 이동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configure terminal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 시작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hostname R1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라우터 이름 지정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interface …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설정할 포트 선택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ip address …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포트의 IP·마스크 설정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 shutdown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포트 사용 가능 상태로 켜기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exit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단계 밖으로 이동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94360" y="498348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12" name="Shape 16"/>
          <p:cNvSpPr/>
          <p:nvPr/>
        </p:nvSpPr>
        <p:spPr>
          <a:xfrm>
            <a:off x="594360" y="498348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58952" y="502005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줄 이후 화면은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R1(config)#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 G0/0은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즉 편집실 PC들의 기본 게이트웨이입니다.</a:t>
            </a:r>
            <a:endParaRPr lang="ko-KR" alt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94360" y="56235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링크 상태 로그가 끼어들면 Enter를 한 번 눌러 입력 줄을 다시 표시하세요. 처음에는 복사보다 한 줄씩 입력하는 편이 쉽습니다.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65–85분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16. 송출실 쪽 포트도 설정하기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앞 단계의 R1(config)# 상태에서 이어서 입력합니다.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627632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0" y="1719072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17190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95528" y="1755648"/>
            <a:ext cx="397764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interface gigabitEthernet0/1</a:t>
            </a:r>
            <a:endParaRPr lang="ko-KR" alt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ip address 192.168.20.1 255.255.255.0</a:t>
            </a:r>
            <a:endParaRPr lang="ko-KR" alt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no shutdown</a:t>
            </a:r>
            <a:endParaRPr lang="ko-KR" alt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exit</a:t>
            </a:r>
            <a:endParaRPr lang="ko-KR" alt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end</a:t>
            </a:r>
            <a:endParaRPr lang="ko-KR" alt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63640" y="162763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이번에는 두 곳이 달라집니다</a:t>
            </a:r>
            <a:endParaRPr lang="ko-KR" alt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263640" y="2084832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83096" y="2084832"/>
            <a:ext cx="5084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포트: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0/0 → 0/1</a:t>
            </a:r>
            <a:endParaRPr lang="ko-KR" alt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63640" y="2542032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ko-KR" alt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83096" y="2542032"/>
            <a:ext cx="5084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주소: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 → 192.168.20.1</a:t>
            </a:r>
            <a:endParaRPr lang="ko-KR" alt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63640" y="3154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설정 모드를 끝내고 </a:t>
            </a: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R1#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돌아오는 명령입니다.</a:t>
            </a:r>
            <a:endParaRPr lang="ko-KR" alt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94360" y="4370832"/>
            <a:ext cx="11000232" cy="5943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" y="4370832"/>
            <a:ext cx="64008" cy="594360"/>
          </a:xfrm>
          <a:prstGeom prst="rect">
            <a:avLst/>
          </a:prstGeom>
          <a:solidFill>
            <a:srgbClr val="C4682D"/>
          </a:solidFill>
          <a:ln w="12700">
            <a:solidFill>
              <a:srgbClr val="C4682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8952" y="4407408"/>
            <a:ext cx="10725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명령어 오류가 나오면: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^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가리키는 부분의 철자·공백·포트 이름을 확인하세요.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 → show ip interface brief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실제 포트 이름을 볼 수 있습니다.</a:t>
            </a:r>
            <a:endParaRPr lang="ko-KR" alt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94360" y="512064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512064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8952" y="515721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기준: 두 라우터 연결이 초록색으로 바뀐다. 다음 장에서 상태를 숫자와 문자로 다시 확인합니다.</a:t>
            </a:r>
            <a:endParaRPr lang="ko-KR" alt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65–85분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 두 포트가 up / up인지 확인하기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R1#에서 아래 명령어를 입력합니다.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08760"/>
            <a:ext cx="11000232" cy="512064"/>
          </a:xfrm>
          <a:prstGeom prst="roundRect">
            <a:avLst>
              <a:gd name="adj" fmla="val 14286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543032" y="1600200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43032" y="16002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95528" y="1636776"/>
            <a:ext cx="9720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show ip interface brief</a:t>
            </a:r>
            <a:endParaRPr lang="ko-KR" alt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4360" y="2093976"/>
            <a:ext cx="11000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1941 모델의 핵심 행 예시 · 그 외 열·포트는 생략</a:t>
            </a:r>
            <a:endParaRPr lang="ko-KR" alt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4360" y="2331720"/>
            <a:ext cx="11000232" cy="960120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2331720"/>
            <a:ext cx="64008" cy="960120"/>
          </a:xfrm>
          <a:prstGeom prst="rect">
            <a:avLst/>
          </a:prstGeom>
          <a:solidFill>
            <a:srgbClr val="658496"/>
          </a:solidFill>
          <a:ln w="12700">
            <a:solidFill>
              <a:srgbClr val="65849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2404872"/>
            <a:ext cx="1072591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193E51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Interface              IP-Address      Status   Protocol</a:t>
            </a:r>
            <a:endParaRPr lang="ko-KR" alt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193E51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GigabitEthernet0/0     192.168.10.1    up       up</a:t>
            </a:r>
            <a:endParaRPr lang="ko-KR" alt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193E51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GigabitEthernet0/1     192.168.20.1    up       up</a:t>
            </a:r>
            <a:endParaRPr lang="ko-KR" alt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56432"/>
          <a:ext cx="11000232" cy="1645920"/>
        </p:xfrm>
        <a:graphic>
          <a:graphicData uri="http://schemas.openxmlformats.org/drawingml/2006/table">
            <a:tbl>
              <a:tblPr/>
              <a:tblGrid>
                <a:gridCol w="2468880"/>
                <a:gridCol w="2926080"/>
                <a:gridCol w="560527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행동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up / up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연결과 포트 동작 정상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PC의 ping 시험으로 이동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administratively down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설정으로 꺼진 상태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configure terminal → 해당 interface → no shutdown → end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down / down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물리 링크가 올라오지 않음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케이블·상대 포트·전원 확인 후 대기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unassigned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IP가 미설정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interface에서 ip address 재입력</a:t>
                      </a:r>
                      <a:endParaRPr lang="ko-KR" alt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12" name="Shape 18"/>
          <p:cNvSpPr/>
          <p:nvPr/>
        </p:nvSpPr>
        <p:spPr>
          <a:xfrm>
            <a:off x="594360" y="5376672"/>
            <a:ext cx="11000232" cy="512064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94360" y="5376672"/>
            <a:ext cx="64008" cy="512064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58952" y="5413248"/>
            <a:ext cx="10725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포트 IP와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 / up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모두 확인합니다. 링크가 초록색이어도 IP 오타는 남아 있을 수 있습니다.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713232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65–85분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 드디어 다른 방으로 ping 보내기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곳부터 순서대로 확인하면 실패 위치를 좁힐 수 있습니다.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08760"/>
            <a:ext cx="11000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→ Desktop → Command Prompt</a:t>
            </a:r>
            <a:r>
              <a:rPr lang="ko-KR" altLang="en-US" sz="13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아래 세 줄을 한 줄씩 실행합니다.</a:t>
            </a:r>
            <a:endParaRPr lang="ko-KR" alt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" y="1901952"/>
            <a:ext cx="11000232" cy="1051560"/>
          </a:xfrm>
          <a:prstGeom prst="roundRect">
            <a:avLst>
              <a:gd name="adj" fmla="val 6957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543032" y="1993392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43032" y="1993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95528" y="2029968"/>
            <a:ext cx="97200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ping 192.168.10.1</a:t>
            </a:r>
            <a:endParaRPr lang="ko-KR" alt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ping 192.168.20.1</a:t>
            </a:r>
            <a:endParaRPr lang="ko-KR" alt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ping 192.168.20.11</a:t>
            </a:r>
            <a:endParaRPr lang="ko-KR" alt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108960"/>
          <a:ext cx="110002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6428232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확인하는 것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편집실 R1 포트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PC-A와 자기 게이트웨이 사이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송출실 R1 포트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라우터의 반대쪽 주소까지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송출실 PC-C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방의 PC와 왕복 통신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94360" y="470916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" y="470916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58952" y="474573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ping을 한 번 더 실행해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Received = 4, Lost = 0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이면 성공! 이어서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PC-C에서 ping 192.168.10.11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 확인합니다.</a:t>
            </a:r>
            <a:endParaRPr lang="ko-KR" alt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94360" y="5376672"/>
            <a:ext cx="11000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→ Save As → 03_routed_ping.pkt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저장합니다. R1에서는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copy running-config startup-config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입력하고 목적 파일 이름 질문에 Enter를 눌러 장비 설정도 저장합니다.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패킷 관찰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85–100분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 통신 경로를 먼저 예상하기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IP가 같은 네트워크인지에 따라 다음 목적지가 달라집니다.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33</a:t>
            </a:r>
            <a:endParaRPr lang="ko-KR" alt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360" y="15727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방</a:t>
            </a:r>
            <a:endParaRPr lang="ko-KR" alt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783080" y="1572768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EDF2F5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83080" y="157276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</a:t>
            </a:r>
            <a:endParaRPr lang="ko-KR" alt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017520" y="157276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alt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429000" y="1572768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EDF2F5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29000" y="157276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SW-EDIT</a:t>
            </a:r>
            <a:endParaRPr lang="ko-KR" alt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63440" y="157276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alt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74920" y="1572768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EDF2F5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4920" y="157276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PC-B</a:t>
            </a:r>
            <a:endParaRPr lang="ko-KR" alt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" y="21488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방</a:t>
            </a:r>
            <a:endParaRPr lang="ko-KR" alt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783080" y="2148840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EDF2F5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783080" y="21488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</a:t>
            </a:r>
            <a:endParaRPr lang="ko-KR" alt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017520" y="214884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alt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429000" y="2148840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EDF2F5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29000" y="21488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SW-EDIT</a:t>
            </a:r>
            <a:endParaRPr lang="ko-KR" alt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663440" y="214884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alt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074920" y="2148840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D9EFE7"/>
          </a:solidFill>
          <a:ln w="15240">
            <a:solidFill>
              <a:srgbClr val="126E6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74920" y="21488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075F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ko-KR" alt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09360" y="214884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alt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720840" y="2148840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EDF2F5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20840" y="21488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SW-PLAY</a:t>
            </a:r>
            <a:endParaRPr lang="ko-KR" alt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955280" y="214884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alt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8366760" y="2148840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EDF2F5"/>
          </a:solidFill>
          <a:ln w="9525">
            <a:solidFill>
              <a:srgbClr val="D7E2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66760" y="21488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PC-C</a:t>
            </a:r>
            <a:endParaRPr lang="ko-KR" alt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94360" y="281635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네트워크면</a:t>
            </a:r>
            <a:endParaRPr lang="ko-KR" alt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594360" y="3154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PC가 상대 PC의 MAC 주소를 알아내 같은 LAN 안에서 프레임을 보냅니다.</a:t>
            </a:r>
            <a:endParaRPr lang="ko-KR" alt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6263640" y="281635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네트워크면</a:t>
            </a:r>
            <a:endParaRPr lang="ko-KR" altLang="en-US" sz="1450" dirty="0"/>
          </a:p>
        </p:txBody>
      </p:sp>
      <p:sp>
        <p:nvSpPr>
          <p:cNvPr id="40" name="Text 37"/>
          <p:cNvSpPr/>
          <p:nvPr/>
        </p:nvSpPr>
        <p:spPr>
          <a:xfrm>
            <a:off x="6263640" y="3154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PC가 먼저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게이트웨이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프레임을 보내고 라우터가 다음 네트워크로 전달합니다.</a:t>
            </a:r>
            <a:endParaRPr lang="ko-KR" alt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594360" y="3822192"/>
            <a:ext cx="11000232" cy="512064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94360" y="3822192"/>
            <a:ext cx="64008" cy="512064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58952" y="3858768"/>
            <a:ext cx="10725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ICMP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ping 요청·응답에 사용.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ARP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같은 LAN에서 다음 목적지의 IP에 대응하는 MAC 주소를 알아내는 절차.</a:t>
            </a:r>
            <a:endParaRPr lang="ko-KR" alt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94360" y="4498848"/>
            <a:ext cx="1100023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C7D9D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3504" y="4507992"/>
            <a:ext cx="10981944" cy="347472"/>
          </a:xfrm>
          <a:prstGeom prst="rect">
            <a:avLst/>
          </a:prstGeom>
          <a:solidFill>
            <a:srgbClr val="F2F7F8"/>
          </a:solidFill>
          <a:ln w="6350">
            <a:solidFill>
              <a:srgbClr val="C7D9D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0664" y="4517136"/>
            <a:ext cx="10707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PC-A가 PC-C에 보낼 때 처음 찾는 MAC 주소는?</a:t>
            </a:r>
            <a:endParaRPr lang="ko-KR" alt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740664" y="4864608"/>
            <a:ext cx="1070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PC-C의 MAC이 아니라 </a:t>
            </a: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게이트웨이 192.168.10.1의 MAC</a:t>
            </a: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 다른 네트워크까지 ARP 방송을 그대로 보내지는 않습니다.</a:t>
            </a:r>
            <a:endParaRPr lang="ko-KR" alt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패킷 관찰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85–100분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20. 봉투가 이동하는 모습 보기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Simulation에서 한 번에 한 사건씩 진행합니다.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60934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36192"/>
            <a:ext cx="1057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설정 창을 닫고 우측 하단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Simulation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누릅니다.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210312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2029968"/>
            <a:ext cx="1057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Simulation 패널의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Edit Filters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엽니다. 전체 선택을 해제한 뒤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ARP와 ICMP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선택합니다. 항목이 IPv4 탭에 있을 수 있습니다.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259689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523744"/>
            <a:ext cx="1057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모음의 닫힌 봉투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 Simple PDU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클릭합니다.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309067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3017520"/>
            <a:ext cx="1057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PC-A를 먼저 클릭 → PC-C를 나중에 클릭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합니다.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94360" y="358444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14984" y="3511296"/>
            <a:ext cx="1057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Capture / Forward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반복 클릭하며 ICMP 요청이 R1을 지나 PC-C로 가고 응답이 돌아오는지 봅니다.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94360" y="407822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alt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14984" y="4005072"/>
            <a:ext cx="10579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PDU 목록에서 성공 여부를 확인합니다. 첫 시도가 실패하면 완료까지 진행한 후 새 Simple PDU로 한 번 더 시도합니다.</a:t>
            </a:r>
            <a:endParaRPr lang="ko-KR" alt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94360" y="466344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4360" y="466344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8952" y="470001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기준: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→ SW-EDIT → R1 → SW-PLAY → PC-C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경로와 돌아오는 응답을 관찰한다.</a:t>
            </a:r>
            <a:endParaRPr lang="ko-KR" alt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94360" y="5321808"/>
            <a:ext cx="11000232" cy="566928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5321808"/>
            <a:ext cx="64008" cy="566928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8952" y="5358384"/>
            <a:ext cx="10725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ARP가 보이지 않아도 오류가 아닙니다. 앞선 ping으로 주소가 이미 학습되어 있을 수 있습니다.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Reset Simulation만으로 ARP 캐시가 지워지지는 않습니다.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패킷 관찰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85–100분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 무엇을 확인했나요?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관찰한 뒤 세 문장으로 설명해 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36192"/>
            <a:ext cx="1100023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7D9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" y="1545336"/>
            <a:ext cx="10981944" cy="347472"/>
          </a:xfrm>
          <a:prstGeom prst="rect">
            <a:avLst/>
          </a:prstGeom>
          <a:solidFill>
            <a:srgbClr val="F2F7F8"/>
          </a:solidFill>
          <a:ln w="6350">
            <a:solidFill>
              <a:srgbClr val="C7D9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0664" y="1554480"/>
            <a:ext cx="10707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① A→C의 ICMP 패킷은 어떤 장비를 통과했나요?</a:t>
            </a:r>
            <a:endParaRPr lang="ko-KR" alt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40664" y="1901952"/>
            <a:ext cx="10707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</a:t>
            </a: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SW-EDIT → R1 → SW-PLAY</a:t>
            </a: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통과했습니다. 두 IP 네트워크를 잇는 장비는 R1입니다.</a:t>
            </a:r>
            <a:endParaRPr lang="ko-KR" alt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94360" y="2423160"/>
            <a:ext cx="1100023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7D9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" y="2432304"/>
            <a:ext cx="10981944" cy="347472"/>
          </a:xfrm>
          <a:prstGeom prst="rect">
            <a:avLst/>
          </a:prstGeom>
          <a:solidFill>
            <a:srgbClr val="F2F7F8"/>
          </a:solidFill>
          <a:ln w="6350">
            <a:solidFill>
              <a:srgbClr val="C7D9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0664" y="2441448"/>
            <a:ext cx="10707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② A→B의 통신에는 R1이 꼭 필요한가요?</a:t>
            </a:r>
            <a:endParaRPr lang="ko-KR" alt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40664" y="2788920"/>
            <a:ext cx="10707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이번 기본 설정에서는 </a:t>
            </a: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필요하지 않습니다.</a:t>
            </a: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같은 /24 네트워크의 두 PC는 스위치를 통해 직접 통신할 수 있습니다.</a:t>
            </a:r>
            <a:endParaRPr lang="ko-KR" alt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94360" y="3310128"/>
            <a:ext cx="1100023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7D9D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" y="3319272"/>
            <a:ext cx="10981944" cy="347472"/>
          </a:xfrm>
          <a:prstGeom prst="rect">
            <a:avLst/>
          </a:prstGeom>
          <a:solidFill>
            <a:srgbClr val="F2F7F8"/>
          </a:solidFill>
          <a:ln w="6350">
            <a:solidFill>
              <a:srgbClr val="C7D9D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0664" y="3328416"/>
            <a:ext cx="10707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③ 필터에서 ICMP만 남기면 ARP 기능이 꺼지나요?</a:t>
            </a:r>
            <a:endParaRPr lang="ko-KR" alt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40664" y="3675888"/>
            <a:ext cx="10707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</a:t>
            </a: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아니요.</a:t>
            </a: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표시할 이벤트만 달라집니다. 네트워크 기능을 비활성화하는 설정이 아닙니다.</a:t>
            </a:r>
            <a:endParaRPr lang="ko-KR" alt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4360" y="429768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14984" y="4251960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관찰이 끝나면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Realtime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눌러 돌아옵니다.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94360" y="473659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14984" y="4690872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ping이 멈춘 것처럼 보이면 먼저 Realtime인지 확인합니다.</a:t>
            </a:r>
            <a:endParaRPr lang="ko-KR" alt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94360" y="5257800"/>
            <a:ext cx="11000232" cy="566928"/>
          </a:xfrm>
          <a:prstGeom prst="rect">
            <a:avLst/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4360" y="5257800"/>
            <a:ext cx="64008" cy="566928"/>
          </a:xfrm>
          <a:prstGeom prst="rect">
            <a:avLst/>
          </a:prstGeom>
          <a:solidFill>
            <a:srgbClr val="477698"/>
          </a:solidFill>
          <a:ln w="12700">
            <a:solidFill>
              <a:srgbClr val="47769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8952" y="5294376"/>
            <a:ext cx="10725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관찰: 이벤트 목록의 색 사각형 또는 봉투를 눌러 </a:t>
            </a: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PDU Information → OSI Model / PDU Details</a:t>
            </a: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볼 수 있습니다. 시간 여유가 있을 때만 살펴보세요.</a:t>
            </a:r>
            <a:endParaRPr lang="ko-KR" alt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복구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100–112분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22. 게이트웨이 하나를 틀리게 넣어 보기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통신이 되던 파일에서 한 가지 값만 바꿉니다.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5448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08760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03_routed_ping.pkt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저장되었는지 확인합니다.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199339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1947672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 → Desktop → IP Configuration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엽니다.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243230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386584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Default Gateway만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192.168.10.254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바꿉니다. IP와 마스크는 그대로 둡니다.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287121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2825496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PC-A의 Command Prompt에서 아래 두 명령어를 각각 실행합니다. 두 번째는 재시도해도 실패하는지 확인합니다.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94360" y="3337560"/>
            <a:ext cx="11000232" cy="749808"/>
          </a:xfrm>
          <a:prstGeom prst="roundRect">
            <a:avLst>
              <a:gd name="adj" fmla="val 9756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543032" y="3429000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543032" y="34290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95528" y="3465576"/>
            <a:ext cx="9720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ping 192.168.10.12</a:t>
            </a:r>
            <a:endParaRPr lang="ko-KR" alt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ping 192.168.20.11</a:t>
            </a:r>
            <a:endParaRPr lang="ko-KR" alt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224528"/>
          <a:ext cx="1100023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  <a:gridCol w="5788152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결과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생각할 점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PC-B · 같은 방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네트워크 안의 통신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PC-C · 다른 방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실패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네트워크로 나갈 경로</a:t>
                      </a:r>
                      <a:endParaRPr lang="ko-KR" alt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594360" y="5440680"/>
            <a:ext cx="11000232" cy="530352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94360" y="5440680"/>
            <a:ext cx="64008" cy="530352"/>
          </a:xfrm>
          <a:prstGeom prst="rect">
            <a:avLst/>
          </a:prstGeom>
          <a:solidFill>
            <a:srgbClr val="C4682D"/>
          </a:solidFill>
          <a:ln w="12700">
            <a:solidFill>
              <a:srgbClr val="C4682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58952" y="547725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문구는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 timed out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또는 </a:t>
            </a:r>
            <a:r>
              <a:rPr lang="ko-KR" altLang="en-US" sz="12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Destination host unreachable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등으로 달라질 수 있습니다. 핵심은 다른 방 ping에 정상 응답이 없다는 점입니다.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복구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100–112분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23. 원인을 설명하고 원래대로 복구하기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“같은 방은 되고, 다른 방은 안 된다”가 단서입니다.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5448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08760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PC-A의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Default Gateway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되돌립니다.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199339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1947672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Command Prompt에서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ipconfig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복구한 주소를 확인합니다.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243230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386584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ping 192.168.20.11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실행합니다. 필요하면 한 번 더 실행해 4개 응답을 확인합니다.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287121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2825496"/>
            <a:ext cx="10579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→ Save As → 04_recovered.pkt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저장합니다.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94360" y="3364992"/>
            <a:ext cx="1100023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C7D9D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" y="3374136"/>
            <a:ext cx="10981944" cy="347472"/>
          </a:xfrm>
          <a:prstGeom prst="rect">
            <a:avLst/>
          </a:prstGeom>
          <a:solidFill>
            <a:srgbClr val="F2F7F8"/>
          </a:solidFill>
          <a:ln w="6350">
            <a:solidFill>
              <a:srgbClr val="C7D9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0664" y="3383280"/>
            <a:ext cx="10707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케이블을 다시 연결하지 않고 고쳐진 이유는?</a:t>
            </a:r>
            <a:endParaRPr lang="ko-KR" alt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40664" y="3730752"/>
            <a:ext cx="10707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케이블과 같은 LAN 통신은 정상이었습니다. 다른 네트워크로 보내는 </a:t>
            </a:r>
            <a:r>
              <a:rPr lang="ko-KR" altLang="en-US" sz="11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게이트웨이 주소</a:t>
            </a:r>
            <a:r>
              <a:rPr lang="ko-KR" altLang="en-US" sz="11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잘못되어 있었고 이를 올바른 R1 주소로 수정했기 때문입니다.</a:t>
            </a:r>
            <a:endParaRPr lang="ko-KR" alt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94360" y="4315968"/>
            <a:ext cx="11000232" cy="1691640"/>
          </a:xfrm>
          <a:prstGeom prst="roundRect">
            <a:avLst>
              <a:gd name="adj" fmla="val 3243"/>
            </a:avLst>
          </a:prstGeom>
          <a:solidFill>
            <a:srgbClr val="F7F5EE"/>
          </a:solidFill>
          <a:ln w="12700">
            <a:solidFill>
              <a:srgbClr val="E2DEC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2960" y="43891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13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말로 기록하기
</a:t>
            </a:r>
            <a:r>
              <a:rPr lang="ko-KR" altLang="en-US" sz="120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증상: 같은 방은 ________, 다른 방은 ________.   (예: 성공 / 실패)
• 원인: PC-A의 ____________________ 주소 오류.   (예: 기본 게이트웨이)
• 조치: ________________ → ________________ 로 수정.   (예: 192.168.10.254 → 192.168.10.1)
• 검증: PC-A → PC-C ping, 수신 ______ / 손실 ______.   (예: 4 / 0)</a:t>
            </a:r>
            <a:endParaRPr lang="ko-KR" alt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점검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112–120분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24. 여섯 번의 통신 시험으로 마무리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Realtime에서 실행합니다. 첫 실패 뒤 재시험 결과로 판정합니다.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/ 33</a:t>
            </a:r>
            <a:endParaRPr lang="ko-KR" alt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36192"/>
          <a:ext cx="11000232" cy="2688336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3931920"/>
                <a:gridCol w="3685032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완료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어느 PC에서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명령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정상 결과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PC-A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ping 192.168.10.12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 응답 / 0% 손실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PC-C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ping 192.168.20.12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 응답 / 0% 손실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PC-A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ping 192.168.10.1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 응답 / 0% 손실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PC-C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ping 192.168.20.1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 응답 / 0% 손실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PC-A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ping 192.168.20.11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 응답 / 0% 손실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PC-D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ping 192.168.10.12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 응답 / 0% 손실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94360" y="461772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4360" y="461772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" y="465429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 기준: 위 6개 성공 + R1 두 포트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up/up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+ PC-A 게이트웨이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192.168.10.1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복구.</a:t>
            </a:r>
            <a:endParaRPr lang="ko-KR" alt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94360" y="530352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증빙은 다음 장의 .pkt와 화면 캡처로 남깁니다.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점검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112–120분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 저장하고 완성본 제출하기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설정 저장과 실습 파일 저장을 둘 다 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/ 33</a:t>
            </a:r>
            <a:endParaRPr lang="ko-KR" alt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1572768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4984" y="1508760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 → CLI에서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R1#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인지 확인합니다. 설정 모드라면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R1&gt;라면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enable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이동합니다.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2048256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14984" y="1984248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명령어를 입력한 뒤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Destination filename [startup-config]?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질문에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누릅니다.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94360" y="2523744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14984" y="2459736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메뉴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→ Save As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PT_Lab_이름_final.pkt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저장합니다.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4360" y="2999232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14984" y="2935224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→ Open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방금 저장한 파일을 다시 열고 PC-A → PC-C ping을 한 번 더 확인합니다.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94360" y="3474720"/>
            <a:ext cx="310896" cy="310896"/>
          </a:xfrm>
          <a:prstGeom prst="ellipse">
            <a:avLst/>
          </a:prstGeom>
          <a:solidFill>
            <a:srgbClr val="E7F3F0"/>
          </a:solidFill>
          <a:ln w="9525">
            <a:solidFill>
              <a:srgbClr val="126E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14984" y="3410712"/>
            <a:ext cx="10579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 .pkt 파일과 </a:t>
            </a: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토폴로지·다른 방 ping 성공·R1 포트 상태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화면을 강사가 지정한 위치에 제출합니다.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94360" y="4005072"/>
            <a:ext cx="11000232" cy="548640"/>
          </a:xfrm>
          <a:prstGeom prst="roundRect">
            <a:avLst>
              <a:gd name="adj" fmla="val 13333"/>
            </a:avLst>
          </a:prstGeom>
          <a:solidFill>
            <a:srgbClr val="143343"/>
          </a:solidFill>
          <a:ln w="12700">
            <a:solidFill>
              <a:srgbClr val="14334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543032" y="4096512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315566"/>
          </a:solidFill>
          <a:ln w="6350">
            <a:solidFill>
              <a:srgbClr val="6C919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543032" y="40965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 명령어</a:t>
            </a:r>
            <a:endParaRPr lang="ko-KR" alt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95528" y="4133088"/>
            <a:ext cx="9720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300" dirty="0">
                <a:solidFill>
                  <a:srgbClr val="E5FFF2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copy running-config startup-config</a:t>
            </a:r>
            <a:endParaRPr lang="ko-KR" alt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94360" y="4709160"/>
            <a:ext cx="11000232" cy="530352"/>
          </a:xfrm>
          <a:prstGeom prst="rect">
            <a:avLst/>
          </a:prstGeom>
          <a:solidFill>
            <a:srgbClr val="EDF7F3"/>
          </a:solidFill>
          <a:ln w="12700">
            <a:solidFill>
              <a:srgbClr val="EDF7F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4360" y="4709160"/>
            <a:ext cx="64008" cy="5303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8952" y="474573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완성!</a:t>
            </a:r>
            <a:r>
              <a:rPr lang="ko-KR" altLang="en-US" sz="1250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여러분은 설계 → 연결 → 주소 설정 → 라우팅 → 검증 → 장애 복구까지 수행했습니다.</a:t>
            </a:r>
            <a:endParaRPr lang="ko-KR" alt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594360" y="5394960"/>
            <a:ext cx="11000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캡처는 Windows의 Win+Shift+S로 필요한 영역을 선택해 별도 이미지로 저장하면 됩니다. Packet Tracer의 .pkt 저장을 대신하지는 않습니다.</a:t>
            </a:r>
            <a:endParaRPr lang="ko-KR" alt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6E68"/>
          </a:solidFill>
          <a:ln w="12700">
            <a:solidFill>
              <a:srgbClr val="126E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PACKET TRACER LAB</a:t>
            </a:r>
            <a:endParaRPr lang="ko-KR" alt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423160" y="246888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7F3F0"/>
          </a:solidFill>
          <a:ln w="12700">
            <a:solidFill>
              <a:srgbClr val="E7F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246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26E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endParaRPr lang="ko-KR" alt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25603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050" b="1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중 필요할 때</a:t>
            </a:r>
            <a:endParaRPr lang="ko-KR" alt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585216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83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막혔을 때 보는 빠른 해결표</a:t>
            </a:r>
            <a:endParaRPr lang="ko-KR" alt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50" dirty="0">
                <a:solidFill>
                  <a:srgbClr val="5068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위에서부터 한 항목씩 확인하고 다시 ping을 실행합니다.</a:t>
            </a:r>
            <a:endParaRPr lang="ko-KR" alt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6355080"/>
            <a:ext cx="11000232" cy="0"/>
          </a:xfrm>
          <a:prstGeom prst="line">
            <a:avLst/>
          </a:prstGeom>
          <a:noFill/>
          <a:ln w="12700">
            <a:solidFill>
              <a:srgbClr val="D7E2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 네트워크 기초 실습 · 설치부터 장애 복구까지</a:t>
            </a:r>
            <a:endParaRPr lang="ko-KR" alt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6579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50" b="1" dirty="0">
                <a:solidFill>
                  <a:srgbClr val="6176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/ 33</a:t>
            </a:r>
            <a:endParaRPr lang="ko-KR" altLang="en-US" sz="9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1000232" cy="4123944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5879592"/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 확인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b="1" dirty="0">
                          <a:solidFill>
                            <a:srgbClr val="24445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다운로드·로그인 반복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계정 인증과 인터넷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 메일·로그인 상태 확인 후 Resource Hub 재접속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240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PC↔스위치가 빨강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포트와 케이블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 FastEthernet0 ↔ 스위치 Ethernet 포트, Straight-Through 확인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스위치 쪽 주황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연결 직후인지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Realtime에서 약 30초 대기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라우터 쪽 빨강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show ip interface brief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administratively down이면 해당 포트에서 no shutdown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방 ping 실패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PC IP·마스크·중복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주소표와 대조, .11/.12 중복 여부 확인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방만 성공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양쪽 PC의 게이트웨이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각 방의 R1 주소인 10.1 / 20.1 확인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게이트웨이 성공·원격 PC 실패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상대 PC 설정·배선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상대 IP·마스크·게이트웨이와 SW-PLAY 배선 확인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CLI에 Invalid input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모드·포트 이름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프롬프트·철자 확인, 실제 포트 이름으로 수정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봉투가 움직이지 않음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Simulation 진행 버튼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Capture / Forward 클릭, 일반 시험은 Realtime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 ping만 손실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ARP 학습·링크 준비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80" dirty="0">
                          <a:solidFill>
                            <a:srgbClr val="1835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ping 재실행, 반복 실패면 다른 항목 점검</a:t>
                      </a:r>
                      <a:endParaRPr lang="ko-KR" altLang="en-US" sz="108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맑은 고딕"/>
        <a:cs typeface="맑은 고딕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맑은 고딕"/>
        <a:cs typeface="맑은 고딕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4218</Words>
  <Application>Microsoft Office PowerPoint</Application>
  <PresentationFormat>와이드스크린</PresentationFormat>
  <Paragraphs>838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Malgun Gothic</vt:lpstr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방송기술교육원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Packet Tracer 2시간 실습 교안</dc:title>
  <dc:subject>Cisco Packet Tracer 2시간 실습 교안</dc:subject>
  <dc:creator>방송기술교육원</dc:creator>
  <cp:lastModifiedBy>Microsoft 계정</cp:lastModifiedBy>
  <cp:revision>2</cp:revision>
  <dcterms:created xsi:type="dcterms:W3CDTF">2026-10-16T02:15:30Z</dcterms:created>
  <dcterms:modified xsi:type="dcterms:W3CDTF">2026-10-16T02:20:39Z</dcterms:modified>
</cp:coreProperties>
</file>